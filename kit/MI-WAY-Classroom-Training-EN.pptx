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87f9e8e5-afa7-3522-a9f8-a4fda014476d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Demo" id="{f0cdb509-d030-20c3-6518-78b85eefcdb8}">
          <p14:sldIdLst>
            <p14:sldId id="262"/>
          </p14:sldIdLst>
        </p14:section>
        <p14:section name="Questions" id="{b54d3ee1-0989-05d4-ea1f-2b13ea72300f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app in one sentence: every student answers on their phone, with no internet, and the teacher sees at once who understood. It is free and made by a Moroccan teacher.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participants: how many of you have reliable Wi-Fi in class? The three problems are network, budget and preparation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connection: turn on your phone hotspot, open MI WAY, and project the QR code. Participants can join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link with assessment: Test 1 = diagnostic, Teach = targeted remediation, Test 2 = measured progress. The app shows the missed points so you reteach only those.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results from one class and one skill. Not a scientific study, but an encouraging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Lessons are ready for middle and high school textbooks. Teachers can also make their own lessons for any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the demo, participants play the students on their own phones. Keep 5 minutes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AI: it is optional and needs a paid key. Everything else is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link or the QR code. The full kit is at miwayclassroom.com/kit.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9E8"/>
                </a:solidFill>
              </a:rPr>
              <a:t>Created by RABII HAJOUI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306B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964"/>
                </a:solidFill>
              </a:rPr>
              <a:t>MI WAY Classroom · Created by RABII HAJOUI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iwayclassroom.com/kit/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t0"/>
          <p:cNvSpPr/>
          <p:nvPr/>
        </p:nvSpPr>
        <p:spPr>
          <a:xfrm>
            <a:off x="548640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dot1"/>
          <p:cNvSpPr/>
          <p:nvPr/>
        </p:nvSpPr>
        <p:spPr>
          <a:xfrm>
            <a:off x="768096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F6C35"/>
          </a:solidFill>
          <a:ln w="12700">
            <a:solidFill>
              <a:srgbClr val="EF6C35"/>
            </a:solidFill>
            <a:prstDash val="solid"/>
          </a:ln>
        </p:spPr>
      </p:sp>
      <p:sp>
        <p:nvSpPr>
          <p:cNvPr id="5" name="dot2"/>
          <p:cNvSpPr/>
          <p:nvPr/>
        </p:nvSpPr>
        <p:spPr>
          <a:xfrm>
            <a:off x="987552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8A05E"/>
          </a:solidFill>
          <a:ln w="12700">
            <a:solidFill>
              <a:srgbClr val="18A05E"/>
            </a:solidFill>
            <a:prstDash val="solid"/>
          </a:ln>
        </p:spPr>
      </p:sp>
      <p:sp>
        <p:nvSpPr>
          <p:cNvPr id="6" name="dot3"/>
          <p:cNvSpPr/>
          <p:nvPr/>
        </p:nvSpPr>
        <p:spPr>
          <a:xfrm>
            <a:off x="1207008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868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 WAY </a:t>
            </a:r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Classroom</a:t>
            </a:r>
            <a:endParaRPr lang="en-US" sz="20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Live English quizzes, no internet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2F7"/>
                </a:solidFill>
              </a:rPr>
              <a:t>A demo for teacher training days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749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E8"/>
                </a:solidFill>
              </a:rPr>
              <a:t>Rabii Hajoui · high school English teacher, Morocco</a:t>
            </a:r>
            <a:endParaRPr lang="en-US" sz="1300" dirty="0"/>
          </a:p>
        </p:txBody>
      </p:sp>
      <p:pic>
        <p:nvPicPr>
          <p:cNvPr id="11" name="Image 0" descr="Student phone with a qu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502920"/>
            <a:ext cx="190195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Three problems in our classes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23444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📶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No Wi-Fi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Most quiz tools need the internet.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3444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No budget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Free plans are limited or full of ads.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035040" y="123444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No time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Making a quiz for every lesson takes hours.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F4F9C"/>
                </a:solidFill>
              </a:rPr>
              <a:t>And the real question: who understood, and who did not?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Ready in one minute</a:t>
            </a:r>
            <a:endParaRPr lang="en-US" sz="3000" dirty="0"/>
          </a:p>
        </p:txBody>
      </p:sp>
      <p:sp>
        <p:nvSpPr>
          <p:cNvPr id="4" name="num0"/>
          <p:cNvSpPr/>
          <p:nvPr/>
        </p:nvSpPr>
        <p:spPr>
          <a:xfrm>
            <a:off x="548640" y="1188720"/>
            <a:ext cx="548640" cy="548640"/>
          </a:xfrm>
          <a:prstGeom prst="ellipse">
            <a:avLst/>
          </a:prstGeom>
          <a:solidFill>
            <a:srgbClr val="1F4F9C"/>
          </a:solidFill>
          <a:ln w="12700">
            <a:solidFill>
              <a:srgbClr val="1F4F9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143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Hotspot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087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The teacher's phone or laptop makes the network. No internet needed.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548640" y="2304288"/>
            <a:ext cx="548640" cy="548640"/>
          </a:xfrm>
          <a:prstGeom prst="ellipse">
            <a:avLst/>
          </a:prstGeom>
          <a:solidFill>
            <a:srgbClr val="1F4F9C"/>
          </a:solidFill>
          <a:ln w="12700">
            <a:solidFill>
              <a:srgbClr val="1F4F9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58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One QR code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6243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Students scan and tap their name. Nothing to install, no accounts.</a:t>
            </a:r>
            <a:endParaRPr lang="en-US" sz="1400" dirty="0"/>
          </a:p>
        </p:txBody>
      </p:sp>
      <p:sp>
        <p:nvSpPr>
          <p:cNvPr id="12" name="num2"/>
          <p:cNvSpPr/>
          <p:nvPr/>
        </p:nvSpPr>
        <p:spPr>
          <a:xfrm>
            <a:off x="548640" y="3419856"/>
            <a:ext cx="548640" cy="548640"/>
          </a:xfrm>
          <a:prstGeom prst="ellipse">
            <a:avLst/>
          </a:prstGeom>
          <a:solidFill>
            <a:srgbClr val="1F4F9C"/>
          </a:solidFill>
          <a:ln w="12700">
            <a:solidFill>
              <a:srgbClr val="1F4F9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3741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6B"/>
                </a:solidFill>
              </a:rPr>
              <a:t>Quiz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373989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C39"/>
                </a:solidFill>
              </a:rPr>
              <a:t>Answers arrive live on the screen or projector.</a:t>
            </a:r>
            <a:endParaRPr lang="en-US" sz="1400" dirty="0"/>
          </a:p>
        </p:txBody>
      </p:sp>
      <p:pic>
        <p:nvPicPr>
          <p:cNvPr id="16" name="Image 0" descr="Join screen with QR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051560"/>
            <a:ext cx="16916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Test · Teach · Test</a:t>
            </a:r>
            <a:endParaRPr lang="en-US" sz="3000" dirty="0"/>
          </a:p>
        </p:txBody>
      </p:sp>
      <p:sp>
        <p:nvSpPr>
          <p:cNvPr id="4" name="step0"/>
          <p:cNvSpPr/>
          <p:nvPr/>
        </p:nvSpPr>
        <p:spPr>
          <a:xfrm>
            <a:off x="548640" y="123444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1F4F9C"/>
          </a:solidFill>
          <a:ln w="12700">
            <a:solidFill>
              <a:srgbClr val="1F4F9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Diagnostic test: what the class already knows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964"/>
                </a:solidFill>
              </a:rPr>
              <a:t>➜</a:t>
            </a:r>
            <a:endParaRPr lang="en-US" sz="2200" dirty="0"/>
          </a:p>
        </p:txBody>
      </p:sp>
      <p:sp>
        <p:nvSpPr>
          <p:cNvPr id="8" name="step1"/>
          <p:cNvSpPr/>
          <p:nvPr/>
        </p:nvSpPr>
        <p:spPr>
          <a:xfrm>
            <a:off x="3291840" y="123444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EF6C35"/>
          </a:solidFill>
          <a:ln w="12700">
            <a:solidFill>
              <a:srgbClr val="EF6C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Teach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828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Targeted remediation: only the missed points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964"/>
                </a:solidFill>
              </a:rPr>
              <a:t>➜</a:t>
            </a:r>
            <a:endParaRPr lang="en-US" sz="2200" dirty="0"/>
          </a:p>
        </p:txBody>
      </p:sp>
      <p:sp>
        <p:nvSpPr>
          <p:cNvPr id="12" name="step2"/>
          <p:cNvSpPr/>
          <p:nvPr/>
        </p:nvSpPr>
        <p:spPr>
          <a:xfrm>
            <a:off x="6035040" y="123444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18A05E"/>
          </a:solidFill>
          <a:ln w="12700">
            <a:solidFill>
              <a:srgbClr val="18A0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828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Measured progress, student by student</a:t>
            </a:r>
            <a:endParaRPr lang="en-US" sz="1400" dirty="0"/>
          </a:p>
        </p:txBody>
      </p:sp>
      <p:pic>
        <p:nvPicPr>
          <p:cNvPr id="15" name="Image 0" descr="Live answers revea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0"/>
            <a:ext cx="3127248" cy="17556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023360" y="3200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4F9C"/>
                </a:solidFill>
              </a:rPr>
              <a:t>Every question has 4 versions, so neighbours cannot copy.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What we measured</a:t>
            </a:r>
            <a:endParaRPr lang="en-US" sz="3000" dirty="0"/>
          </a:p>
        </p:txBody>
      </p:sp>
      <p:sp>
        <p:nvSpPr>
          <p:cNvPr id="4" name="proof"/>
          <p:cNvSpPr/>
          <p:nvPr/>
        </p:nvSpPr>
        <p:spPr>
          <a:xfrm>
            <a:off x="548640" y="1188720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B6964"/>
                </a:solidFill>
              </a:rPr>
              <a:t>42%</a:t>
            </a:r>
            <a:pPr indent="0" marL="0">
              <a:buNone/>
            </a:pPr>
            <a:r>
              <a:rPr lang="en-US" sz="5400" b="1" dirty="0">
                <a:solidFill>
                  <a:srgbClr val="6B6964"/>
                </a:solidFill>
              </a:rPr>
              <a:t>  →  </a:t>
            </a:r>
            <a:pPr indent="0" marL="0">
              <a:buNone/>
            </a:pPr>
            <a:r>
              <a:rPr lang="en-US" sz="5400" b="1" dirty="0">
                <a:solidFill>
                  <a:srgbClr val="18A05E"/>
                </a:solidFill>
              </a:rPr>
              <a:t>58%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3C39"/>
                </a:solidFill>
              </a:rPr>
              <a:t>One Common Core class, same skill, in 3 weeks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F9C"/>
                </a:solidFill>
              </a:rPr>
              <a:t>91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3C39"/>
                </a:solidFill>
              </a:rPr>
              <a:t>students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F9C"/>
                </a:solidFill>
              </a:rPr>
              <a:t>24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011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3C39"/>
                </a:solidFill>
              </a:rPr>
              <a:t>sessions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F9C"/>
                </a:solidFill>
              </a:rPr>
              <a:t>5,495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3C39"/>
                </a:solidFill>
              </a:rPr>
              <a:t>answers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4"/>
                </a:solidFill>
              </a:rPr>
              <a:t>3 Common Core classes, 29 Sep – 15 Oct 2026. Anonymous data from the author's classes.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Ready for Moroccan textbooks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F9C"/>
                </a:solidFill>
              </a:rPr>
              <a:t>Ready lessons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Spotlight 1AC, 2AC, 3AC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Outlook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Ticket to English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Gateway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Insights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47472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F9C"/>
                </a:solidFill>
              </a:rPr>
              <a:t>All skills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474720" y="155448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Listening for every lesson and unit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Speaking, writing and picture vocabulary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3 help levels 🌱🌿🌳 for every student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</a:rPr>
              <a:t>Record book, marks /20, Excel export</a:t>
            </a:r>
            <a:endParaRPr lang="en-US" sz="1500" dirty="0"/>
          </a:p>
        </p:txBody>
      </p:sp>
      <p:pic>
        <p:nvPicPr>
          <p:cNvPr id="8" name="Image 0" descr="Student phone after a correct ans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51560"/>
            <a:ext cx="16916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Demo: 20 minutes</a:t>
            </a:r>
            <a:endParaRPr lang="en-US" sz="3000" dirty="0"/>
          </a:p>
        </p:txBody>
      </p:sp>
      <p:sp>
        <p:nvSpPr>
          <p:cNvPr id="4" name="row0"/>
          <p:cNvSpPr/>
          <p:nvPr/>
        </p:nvSpPr>
        <p:spPr>
          <a:xfrm>
            <a:off x="548640" y="1143000"/>
            <a:ext cx="8046720" cy="621792"/>
          </a:xfrm>
          <a:prstGeom prst="roundRect">
            <a:avLst>
              <a:gd name="adj" fmla="val 1764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4300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F9C"/>
                </a:solidFill>
              </a:rPr>
              <a:t>0–3 min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14300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</a:rPr>
              <a:t>Turn on the hotspot, open a ready lesson</a:t>
            </a:r>
            <a:endParaRPr lang="en-US" sz="1600" dirty="0"/>
          </a:p>
        </p:txBody>
      </p:sp>
      <p:sp>
        <p:nvSpPr>
          <p:cNvPr id="7" name="row1"/>
          <p:cNvSpPr/>
          <p:nvPr/>
        </p:nvSpPr>
        <p:spPr>
          <a:xfrm>
            <a:off x="548640" y="1892808"/>
            <a:ext cx="80467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89280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F9C"/>
                </a:solidFill>
              </a:rPr>
              <a:t>3–8 min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1892808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</a:rPr>
              <a:t>Participants scan the QR and play the students</a:t>
            </a:r>
            <a:endParaRPr lang="en-US" sz="1600" dirty="0"/>
          </a:p>
        </p:txBody>
      </p:sp>
      <p:sp>
        <p:nvSpPr>
          <p:cNvPr id="10" name="row2"/>
          <p:cNvSpPr/>
          <p:nvPr/>
        </p:nvSpPr>
        <p:spPr>
          <a:xfrm>
            <a:off x="548640" y="2642616"/>
            <a:ext cx="8046720" cy="621792"/>
          </a:xfrm>
          <a:prstGeom prst="roundRect">
            <a:avLst>
              <a:gd name="adj" fmla="val 1764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64261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F9C"/>
                </a:solidFill>
              </a:rPr>
              <a:t>8–15 min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2642616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</a:rPr>
              <a:t>5-question quiz: live answers, podium</a:t>
            </a:r>
            <a:endParaRPr lang="en-US" sz="1600" dirty="0"/>
          </a:p>
        </p:txBody>
      </p:sp>
      <p:sp>
        <p:nvSpPr>
          <p:cNvPr id="13" name="row3"/>
          <p:cNvSpPr/>
          <p:nvPr/>
        </p:nvSpPr>
        <p:spPr>
          <a:xfrm>
            <a:off x="548640" y="3392424"/>
            <a:ext cx="80467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39242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F9C"/>
                </a:solidFill>
              </a:rPr>
              <a:t>15–20 min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3392424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</a:rPr>
              <a:t>Test 2, each "student's" progress, discussion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964"/>
                </a:solidFill>
              </a:rPr>
              <a:t>You need: an Android phone or a Windows laptop, and a projector if possible.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6B"/>
                </a:solidFill>
              </a:rPr>
              <a:t>Common questions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6B"/>
                </a:solidFill>
              </a:rPr>
              <a:t>Is it really free?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7335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</a:rPr>
              <a:t>Yes, no student limit and no ads. Only the optional AI quiz writer needs the teacher's own paid key.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663440" y="11430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6B"/>
                </a:solidFill>
              </a:rPr>
              <a:t>Does every student need a phone?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7335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</a:rPr>
              <a:t>No. Students can play in pairs or groups, one phone per group.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28346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6B"/>
                </a:solidFill>
              </a:rPr>
              <a:t>What about student data?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3649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</a:rPr>
              <a:t>Everything stays on the teacher's device. No cloud, no accounts.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663440" y="28346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6B"/>
                </a:solidFill>
              </a:rPr>
              <a:t>Which devices?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3649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C39"/>
                </a:solidFill>
              </a:rPr>
              <a:t>Teacher: Android or Windows. Students: any phone with a browser.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9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t0"/>
          <p:cNvSpPr/>
          <p:nvPr/>
        </p:nvSpPr>
        <p:spPr>
          <a:xfrm>
            <a:off x="548640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dot1"/>
          <p:cNvSpPr/>
          <p:nvPr/>
        </p:nvSpPr>
        <p:spPr>
          <a:xfrm>
            <a:off x="768096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F6C35"/>
          </a:solidFill>
          <a:ln w="12700">
            <a:solidFill>
              <a:srgbClr val="EF6C35"/>
            </a:solidFill>
            <a:prstDash val="solid"/>
          </a:ln>
        </p:spPr>
      </p:sp>
      <p:sp>
        <p:nvSpPr>
          <p:cNvPr id="5" name="dot2"/>
          <p:cNvSpPr/>
          <p:nvPr/>
        </p:nvSpPr>
        <p:spPr>
          <a:xfrm>
            <a:off x="987552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8A05E"/>
          </a:solidFill>
          <a:ln w="12700">
            <a:solidFill>
              <a:srgbClr val="18A05E"/>
            </a:solidFill>
            <a:prstDash val="solid"/>
          </a:ln>
        </p:spPr>
      </p:sp>
      <p:sp>
        <p:nvSpPr>
          <p:cNvPr id="6" name="dot3"/>
          <p:cNvSpPr/>
          <p:nvPr/>
        </p:nvSpPr>
        <p:spPr>
          <a:xfrm>
            <a:off x="1207008" y="548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Try it with your teachers</a:t>
            </a:r>
            <a:endParaRPr lang="en-US" sz="3600" dirty="0"/>
          </a:p>
        </p:txBody>
      </p:sp>
      <p:sp>
        <p:nvSpPr>
          <p:cNvPr id="8" name="Text 5">
            <a:hlinkClick r:id="rId1" tooltip=""/>
          </p:cNvPr>
          <p:cNvSpPr txBox="1"/>
          <p:nvPr/>
        </p:nvSpPr>
        <p:spPr>
          <a:xfrm>
            <a:off x="548640" y="2880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FBBF2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miwayclassroom.com/kit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F7"/>
                </a:solidFill>
              </a:rPr>
              <a:t>Download, handout, videos and slides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E8"/>
                </a:solidFill>
              </a:rPr>
              <a:t>Training and questions: miwayclassroom@gmail.com</a:t>
            </a:r>
            <a:endParaRPr lang="en-US" sz="1300" dirty="0"/>
          </a:p>
        </p:txBody>
      </p:sp>
      <p:sp>
        <p:nvSpPr>
          <p:cNvPr id="11" name="qrbg"/>
          <p:cNvSpPr/>
          <p:nvPr/>
        </p:nvSpPr>
        <p:spPr>
          <a:xfrm>
            <a:off x="6172200" y="1005840"/>
            <a:ext cx="24688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QR code to download MI WAY Classro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972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I WAY">
  <a:themeElements>
    <a:clrScheme name="MI WAY">
      <a:dk1>
        <a:srgbClr val="0B0B0B"/>
      </a:dk1>
      <a:lt1>
        <a:srgbClr val="FFFFFF"/>
      </a:lt1>
      <a:dk2>
        <a:srgbClr val="14306B"/>
      </a:dk2>
      <a:lt2>
        <a:srgbClr val="EEF3FC"/>
      </a:lt2>
      <a:accent1>
        <a:srgbClr val="1F4F9C"/>
      </a:accent1>
      <a:accent2>
        <a:srgbClr val="FBBF24"/>
      </a:accent2>
      <a:accent3>
        <a:srgbClr val="18A05E"/>
      </a:accent3>
      <a:accent4>
        <a:srgbClr val="EF6C35"/>
      </a:accent4>
      <a:accent5>
        <a:srgbClr val="2A78D6"/>
      </a:accent5>
      <a:accent6>
        <a:srgbClr val="6B6964"/>
      </a:accent6>
      <a:hlink>
        <a:srgbClr val="1F4F9C"/>
      </a:hlink>
      <a:folHlink>
        <a:srgbClr val="14306B"/>
      </a:folHlink>
    </a:clrScheme>
    <a:fontScheme name="MI WA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 WAY Classroom</dc:title>
  <dc:subject>PptxGenJS Presentation</dc:subject>
  <dc:creator>Rabii Hajoui</dc:creator>
  <cp:lastModifiedBy>Rabii Hajoui</cp:lastModifiedBy>
  <cp:revision>1</cp:revision>
  <dcterms:created xsi:type="dcterms:W3CDTF">2026-10-30T22:19:03Z</dcterms:created>
  <dcterms:modified xsi:type="dcterms:W3CDTF">2026-10-30T22:19:03Z</dcterms:modified>
</cp:coreProperties>
</file>