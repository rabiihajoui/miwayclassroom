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ésentation" id="{4785e6a3-aeb3-68a1-029f-0f9b08fd221a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Démonstration" id="{f9999d2a-5838-9a1a-e1dc-3f92ee56f881}">
          <p14:sldIdLst>
            <p14:sldId id="262"/>
          </p14:sldIdLst>
        </p14:section>
        <p14:section name="Questions" id="{a3a79927-2b8b-506b-f7c1-b82442999a2b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Présentez l'application en une phrase : tous les élèves répondent sur leur téléphone, sans internet, et l'enseignant voit tout de suite qui a compris. L'application est gratuite et créée par un enseignant marocain.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Demandez aux participants : combien d'entre vous ont du Wi-Fi fiable en classe ? Les trois freins sont le réseau, le budget et le temps de préparation.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Montrez la vraie connexion : allumez le point d'accès de votre téléphone, ouvrez MI WAY, et projetez le code QR. Les participants peuvent rejoindre dès maintenant.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lien avec l'évaluation : Test 1 = diagnostique, Teach = remédiation ciblée, Test 2 = mesure du progrès. L'application montre les points ratés pour ne réenseigner que ceux-là.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Résultats réels d'une seule classe et d'une seule compétence. Ce n'est pas une étude scientifique, mais un signal encourageant.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leçons sont prêtes pour les manuels du collège et du lycée. L'enseignant peut aussi créer ses propres leçons pour n'importe quel manuel.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Pendant la démonstration, les participants jouent les élèves avec leur propre téléphone. Gardez 5 minutes pour les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Soyez honnête sur l'IA : elle est facultative et demande une clé payante. Tout le reste est gratuit.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Partagez le lien ou le code QR. Le kit complet est sur miwayclassroom.com/kit.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120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9E8"/>
                </a:solidFill>
              </a:rPr>
              <a:t>Created by RABII HAJOUI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306B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800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964"/>
                </a:solidFill>
              </a:rPr>
              <a:t>MI WAY Classroom · Created by RABII HAJOUI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9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9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iwayclassroom.com/kit/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t0"/>
          <p:cNvSpPr/>
          <p:nvPr/>
        </p:nvSpPr>
        <p:spPr>
          <a:xfrm>
            <a:off x="548640" y="5486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dot1"/>
          <p:cNvSpPr/>
          <p:nvPr/>
        </p:nvSpPr>
        <p:spPr>
          <a:xfrm>
            <a:off x="768096" y="5486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F6C35"/>
          </a:solidFill>
          <a:ln w="12700">
            <a:solidFill>
              <a:srgbClr val="EF6C35"/>
            </a:solidFill>
            <a:prstDash val="solid"/>
          </a:ln>
        </p:spPr>
      </p:sp>
      <p:sp>
        <p:nvSpPr>
          <p:cNvPr id="5" name="dot2"/>
          <p:cNvSpPr/>
          <p:nvPr/>
        </p:nvSpPr>
        <p:spPr>
          <a:xfrm>
            <a:off x="987552" y="5486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8A05E"/>
          </a:solidFill>
          <a:ln w="12700">
            <a:solidFill>
              <a:srgbClr val="18A05E"/>
            </a:solidFill>
            <a:prstDash val="solid"/>
          </a:ln>
        </p:spPr>
      </p:sp>
      <p:sp>
        <p:nvSpPr>
          <p:cNvPr id="6" name="dot3"/>
          <p:cNvSpPr/>
          <p:nvPr/>
        </p:nvSpPr>
        <p:spPr>
          <a:xfrm>
            <a:off x="1207008" y="5486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868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MI WAY </a:t>
            </a:r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</a:rPr>
              <a:t>Classroom</a:t>
            </a:r>
            <a:endParaRPr lang="en-US" sz="20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548640" y="1463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Des quiz d'anglais en direct, sans internet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2F7"/>
                </a:solidFill>
              </a:rPr>
              <a:t>Une démonstration pour les journées de formation des enseignants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749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9E8"/>
                </a:solidFill>
              </a:rPr>
              <a:t>Rabii Hajoui · professeur d'anglais au lycée, Maroc</a:t>
            </a:r>
            <a:endParaRPr lang="en-US" sz="1300" dirty="0"/>
          </a:p>
        </p:txBody>
      </p:sp>
      <p:pic>
        <p:nvPicPr>
          <p:cNvPr id="11" name="Image 0" descr="Student phone with a ques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502920"/>
            <a:ext cx="190195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6B"/>
                </a:solidFill>
              </a:rPr>
              <a:t>Trois freins dans nos classes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23444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17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📶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57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6B"/>
                </a:solidFill>
              </a:rPr>
              <a:t>Pas de Wi-Fi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C39"/>
                </a:solidFill>
              </a:rPr>
              <a:t>La plupart des outils de quiz ont besoin d'internet.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23444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20440" y="1417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520440" y="2057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6B"/>
                </a:solidFill>
              </a:rPr>
              <a:t>Pas de budget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C39"/>
                </a:solidFill>
              </a:rPr>
              <a:t>Les versions gratuites sont limitées ou pleines de publicités.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035040" y="123444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63640" y="1417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2057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6B"/>
                </a:solidFill>
              </a:rPr>
              <a:t>Pas de temps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C39"/>
                </a:solidFill>
              </a:rPr>
              <a:t>Préparer un quiz pour chaque leçon prend des heures.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F4F9C"/>
                </a:solidFill>
              </a:rPr>
              <a:t>Et la vraie question : qui a compris, et qui n'a pas compris 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9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6B"/>
                </a:solidFill>
              </a:rPr>
              <a:t>Prêt en une minute</a:t>
            </a:r>
            <a:endParaRPr lang="en-US" sz="3000" dirty="0"/>
          </a:p>
        </p:txBody>
      </p:sp>
      <p:sp>
        <p:nvSpPr>
          <p:cNvPr id="4" name="num0"/>
          <p:cNvSpPr/>
          <p:nvPr/>
        </p:nvSpPr>
        <p:spPr>
          <a:xfrm>
            <a:off x="548640" y="1188720"/>
            <a:ext cx="548640" cy="548640"/>
          </a:xfrm>
          <a:prstGeom prst="ellipse">
            <a:avLst/>
          </a:prstGeom>
          <a:solidFill>
            <a:srgbClr val="1F4F9C"/>
          </a:solidFill>
          <a:ln w="12700">
            <a:solidFill>
              <a:srgbClr val="1F4F9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143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6B"/>
                </a:solidFill>
              </a:rPr>
              <a:t>Le point d'accès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5087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C39"/>
                </a:solidFill>
              </a:rPr>
              <a:t>Le téléphone ou le PC de l'enseignant crée le réseau. Internet n'est pas nécessaire.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548640" y="2304288"/>
            <a:ext cx="548640" cy="548640"/>
          </a:xfrm>
          <a:prstGeom prst="ellipse">
            <a:avLst/>
          </a:prstGeom>
          <a:solidFill>
            <a:srgbClr val="1F4F9C"/>
          </a:solidFill>
          <a:ln w="12700">
            <a:solidFill>
              <a:srgbClr val="1F4F9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2585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6B"/>
                </a:solidFill>
              </a:rPr>
              <a:t>Un code QR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6243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C39"/>
                </a:solidFill>
              </a:rPr>
              <a:t>Les élèves scannent et touchent leur nom. Rien à installer, aucun compte.</a:t>
            </a:r>
            <a:endParaRPr lang="en-US" sz="1400" dirty="0"/>
          </a:p>
        </p:txBody>
      </p:sp>
      <p:sp>
        <p:nvSpPr>
          <p:cNvPr id="12" name="num2"/>
          <p:cNvSpPr/>
          <p:nvPr/>
        </p:nvSpPr>
        <p:spPr>
          <a:xfrm>
            <a:off x="548640" y="3419856"/>
            <a:ext cx="548640" cy="548640"/>
          </a:xfrm>
          <a:prstGeom prst="ellipse">
            <a:avLst/>
          </a:prstGeom>
          <a:solidFill>
            <a:srgbClr val="1F4F9C"/>
          </a:solidFill>
          <a:ln w="12700">
            <a:solidFill>
              <a:srgbClr val="1F4F9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419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3741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6B"/>
                </a:solidFill>
              </a:rPr>
              <a:t>Le quiz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373989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C39"/>
                </a:solidFill>
              </a:rPr>
              <a:t>Les réponses arrivent en direct à l'écran ou au vidéoprojecteur.</a:t>
            </a:r>
            <a:endParaRPr lang="en-US" sz="1400" dirty="0"/>
          </a:p>
        </p:txBody>
      </p:sp>
      <p:pic>
        <p:nvPicPr>
          <p:cNvPr id="16" name="Image 0" descr="Join screen with QR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051560"/>
            <a:ext cx="169164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9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6B"/>
                </a:solidFill>
              </a:rPr>
              <a:t>Test · Teach · Test</a:t>
            </a:r>
            <a:endParaRPr lang="en-US" sz="3000" dirty="0"/>
          </a:p>
        </p:txBody>
      </p:sp>
      <p:sp>
        <p:nvSpPr>
          <p:cNvPr id="4" name="step0"/>
          <p:cNvSpPr/>
          <p:nvPr/>
        </p:nvSpPr>
        <p:spPr>
          <a:xfrm>
            <a:off x="548640" y="123444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1F4F9C"/>
          </a:solidFill>
          <a:ln w="12700">
            <a:solidFill>
              <a:srgbClr val="1F4F9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 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288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Évaluation diagnostique : ce que la classe sait déjà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92608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964"/>
                </a:solidFill>
              </a:rPr>
              <a:t>➜</a:t>
            </a:r>
            <a:endParaRPr lang="en-US" sz="2200" dirty="0"/>
          </a:p>
        </p:txBody>
      </p:sp>
      <p:sp>
        <p:nvSpPr>
          <p:cNvPr id="8" name="step1"/>
          <p:cNvSpPr/>
          <p:nvPr/>
        </p:nvSpPr>
        <p:spPr>
          <a:xfrm>
            <a:off x="3291840" y="123444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EF6C35"/>
          </a:solidFill>
          <a:ln w="12700">
            <a:solidFill>
              <a:srgbClr val="EF6C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7472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Teach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18288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Remédiation ciblée : seulement les points ratés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964"/>
                </a:solidFill>
              </a:rPr>
              <a:t>➜</a:t>
            </a:r>
            <a:endParaRPr lang="en-US" sz="2200" dirty="0"/>
          </a:p>
        </p:txBody>
      </p:sp>
      <p:sp>
        <p:nvSpPr>
          <p:cNvPr id="12" name="step2"/>
          <p:cNvSpPr/>
          <p:nvPr/>
        </p:nvSpPr>
        <p:spPr>
          <a:xfrm>
            <a:off x="6035040" y="123444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18A05E"/>
          </a:solidFill>
          <a:ln w="12700">
            <a:solidFill>
              <a:srgbClr val="18A0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 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8288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Mesure du progrès, élève par élève</a:t>
            </a:r>
            <a:endParaRPr lang="en-US" sz="1400" dirty="0"/>
          </a:p>
        </p:txBody>
      </p:sp>
      <p:pic>
        <p:nvPicPr>
          <p:cNvPr id="15" name="Image 0" descr="Live answers reveal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0"/>
            <a:ext cx="3127248" cy="175564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023360" y="3200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4F9C"/>
                </a:solidFill>
              </a:rPr>
              <a:t>Chaque question existe en 4 versions : les voisins ne peuvent pas copier.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9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6B"/>
                </a:solidFill>
              </a:rPr>
              <a:t>Ce que nous avons mesuré</a:t>
            </a:r>
            <a:endParaRPr lang="en-US" sz="3000" dirty="0"/>
          </a:p>
        </p:txBody>
      </p:sp>
      <p:sp>
        <p:nvSpPr>
          <p:cNvPr id="4" name="proof"/>
          <p:cNvSpPr/>
          <p:nvPr/>
        </p:nvSpPr>
        <p:spPr>
          <a:xfrm>
            <a:off x="548640" y="1188720"/>
            <a:ext cx="4206240" cy="2377440"/>
          </a:xfrm>
          <a:prstGeom prst="roundRect">
            <a:avLst>
              <a:gd name="adj" fmla="val 4615"/>
            </a:avLst>
          </a:prstGeom>
          <a:solidFill>
            <a:srgbClr val="E8F6EE"/>
          </a:solidFill>
          <a:ln w="12700">
            <a:solidFill>
              <a:srgbClr val="E8F6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6B6964"/>
                </a:solidFill>
              </a:rPr>
              <a:t>42%</a:t>
            </a:r>
            <a:pPr indent="0" marL="0">
              <a:buNone/>
            </a:pPr>
            <a:r>
              <a:rPr lang="en-US" sz="5400" b="1" dirty="0">
                <a:solidFill>
                  <a:srgbClr val="6B6964"/>
                </a:solidFill>
              </a:rPr>
              <a:t>  →  </a:t>
            </a:r>
            <a:pPr indent="0" marL="0">
              <a:buNone/>
            </a:pPr>
            <a:r>
              <a:rPr lang="en-US" sz="5400" b="1" dirty="0">
                <a:solidFill>
                  <a:srgbClr val="18A05E"/>
                </a:solidFill>
              </a:rPr>
              <a:t>58%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514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3C39"/>
                </a:solidFill>
              </a:rPr>
              <a:t>Une classe de tronc commun, même compétence, en 3 semaines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188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F9C"/>
                </a:solidFill>
              </a:rPr>
              <a:t>91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3C39"/>
                </a:solidFill>
              </a:rPr>
              <a:t>élèves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212080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F9C"/>
                </a:solidFill>
              </a:rPr>
              <a:t>24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2011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3C39"/>
                </a:solidFill>
              </a:rPr>
              <a:t>séances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2834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F9C"/>
                </a:solidFill>
              </a:rPr>
              <a:t>5 495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3C39"/>
                </a:solidFill>
              </a:rPr>
              <a:t>réponses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964"/>
                </a:solidFill>
              </a:rPr>
              <a:t>3 classes de tronc commun, 29 sept. – 15 oct. 2026. Données anonymes de la classe de l'auteur.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9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6B"/>
                </a:solidFill>
              </a:rPr>
              <a:t>Prêt pour les manuels marocains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F9C"/>
                </a:solidFill>
              </a:rPr>
              <a:t>Leçons prêtes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</a:rPr>
              <a:t>Spotlight 1AC, 2AC, 3AC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</a:rPr>
              <a:t>Outlook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</a:rPr>
              <a:t>Ticket to English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</a:rPr>
              <a:t>Gateway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</a:rPr>
              <a:t>Insights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474720" y="1143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F9C"/>
                </a:solidFill>
              </a:rPr>
              <a:t>Toutes les compétences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474720" y="155448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</a:rPr>
              <a:t>Écoute pour chaque leçon et chaque unité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</a:rPr>
              <a:t>Oral, écrit et vocabulaire avec images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</a:rPr>
              <a:t>Aide en 3 niveaux 🌱🌿🌳 pour chaque élève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</a:rPr>
              <a:t>Cahier de textes, notes /20, export Excel</a:t>
            </a:r>
            <a:endParaRPr lang="en-US" sz="1500" dirty="0"/>
          </a:p>
        </p:txBody>
      </p:sp>
      <p:pic>
        <p:nvPicPr>
          <p:cNvPr id="8" name="Image 0" descr="Student phone after a correct answ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051560"/>
            <a:ext cx="169164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9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6B"/>
                </a:solidFill>
              </a:rPr>
              <a:t>Démonstration : 20 minutes</a:t>
            </a:r>
            <a:endParaRPr lang="en-US" sz="3000" dirty="0"/>
          </a:p>
        </p:txBody>
      </p:sp>
      <p:sp>
        <p:nvSpPr>
          <p:cNvPr id="4" name="row0"/>
          <p:cNvSpPr/>
          <p:nvPr/>
        </p:nvSpPr>
        <p:spPr>
          <a:xfrm>
            <a:off x="548640" y="1143000"/>
            <a:ext cx="8046720" cy="621792"/>
          </a:xfrm>
          <a:prstGeom prst="roundRect">
            <a:avLst>
              <a:gd name="adj" fmla="val 17647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4300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F9C"/>
                </a:solidFill>
              </a:rPr>
              <a:t>0–3 min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2286000" y="1143000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</a:rPr>
              <a:t>Allumer le point d'accès, ouvrir une leçon prête</a:t>
            </a:r>
            <a:endParaRPr lang="en-US" sz="1600" dirty="0"/>
          </a:p>
        </p:txBody>
      </p:sp>
      <p:sp>
        <p:nvSpPr>
          <p:cNvPr id="7" name="row1"/>
          <p:cNvSpPr/>
          <p:nvPr/>
        </p:nvSpPr>
        <p:spPr>
          <a:xfrm>
            <a:off x="548640" y="1892808"/>
            <a:ext cx="80467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892808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F9C"/>
                </a:solidFill>
              </a:rPr>
              <a:t>3–8 min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1892808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</a:rPr>
              <a:t>Les participants scannent le QR et jouent les élèves</a:t>
            </a:r>
            <a:endParaRPr lang="en-US" sz="1600" dirty="0"/>
          </a:p>
        </p:txBody>
      </p:sp>
      <p:sp>
        <p:nvSpPr>
          <p:cNvPr id="10" name="row2"/>
          <p:cNvSpPr/>
          <p:nvPr/>
        </p:nvSpPr>
        <p:spPr>
          <a:xfrm>
            <a:off x="548640" y="2642616"/>
            <a:ext cx="8046720" cy="621792"/>
          </a:xfrm>
          <a:prstGeom prst="roundRect">
            <a:avLst>
              <a:gd name="adj" fmla="val 17647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642616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F9C"/>
                </a:solidFill>
              </a:rPr>
              <a:t>8–15 min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286000" y="2642616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</a:rPr>
              <a:t>Quiz de 5 questions : réponses en direct, podium</a:t>
            </a:r>
            <a:endParaRPr lang="en-US" sz="1600" dirty="0"/>
          </a:p>
        </p:txBody>
      </p:sp>
      <p:sp>
        <p:nvSpPr>
          <p:cNvPr id="13" name="row3"/>
          <p:cNvSpPr/>
          <p:nvPr/>
        </p:nvSpPr>
        <p:spPr>
          <a:xfrm>
            <a:off x="548640" y="3392424"/>
            <a:ext cx="80467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39242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F9C"/>
                </a:solidFill>
              </a:rPr>
              <a:t>15–20 min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286000" y="3392424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</a:rPr>
              <a:t>Test 2, progrès de chaque « élève », discussion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964"/>
                </a:solidFill>
              </a:rPr>
              <a:t>Matériel : un téléphone Android ou un PC Windows, un vidéoprojecteur si possible.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9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6B"/>
                </a:solidFill>
              </a:rPr>
              <a:t>Questions fréquentes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14300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6B"/>
                </a:solidFill>
              </a:rPr>
              <a:t>C'est vraiment gratuit ?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67335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3C39"/>
                </a:solidFill>
              </a:rPr>
              <a:t>Oui, sans limite d'élèves et sans publicité. Seule l'option qui rédige des quiz avec l'IA demande une clé payante de l'enseignant (facultatif).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663440" y="114300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6B"/>
                </a:solidFill>
              </a:rPr>
              <a:t>Chaque élève a besoin d'un téléphone 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7335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3C39"/>
                </a:solidFill>
              </a:rPr>
              <a:t>Non. Les élèves peuvent jouer en binômes ou en groupes, un téléphone par groupe.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548640" y="283464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6B"/>
                </a:solidFill>
              </a:rPr>
              <a:t>Et les données des élèves ?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36499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3C39"/>
                </a:solidFill>
              </a:rPr>
              <a:t>Tout reste sur l'appareil de l'enseignant. Pas de cloud, pas de comptes.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663440" y="283464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6B"/>
                </a:solidFill>
              </a:rPr>
              <a:t>Sur quels appareils 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36499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3C39"/>
                </a:solidFill>
              </a:rPr>
              <a:t>Enseignant : Android ou Windows. Élèves : n'importe quel téléphone avec un navigateur.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9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t0"/>
          <p:cNvSpPr/>
          <p:nvPr/>
        </p:nvSpPr>
        <p:spPr>
          <a:xfrm>
            <a:off x="548640" y="5486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dot1"/>
          <p:cNvSpPr/>
          <p:nvPr/>
        </p:nvSpPr>
        <p:spPr>
          <a:xfrm>
            <a:off x="768096" y="5486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F6C35"/>
          </a:solidFill>
          <a:ln w="12700">
            <a:solidFill>
              <a:srgbClr val="EF6C35"/>
            </a:solidFill>
            <a:prstDash val="solid"/>
          </a:ln>
        </p:spPr>
      </p:sp>
      <p:sp>
        <p:nvSpPr>
          <p:cNvPr id="5" name="dot2"/>
          <p:cNvSpPr/>
          <p:nvPr/>
        </p:nvSpPr>
        <p:spPr>
          <a:xfrm>
            <a:off x="987552" y="5486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8A05E"/>
          </a:solidFill>
          <a:ln w="12700">
            <a:solidFill>
              <a:srgbClr val="18A05E"/>
            </a:solidFill>
            <a:prstDash val="solid"/>
          </a:ln>
        </p:spPr>
      </p:sp>
      <p:sp>
        <p:nvSpPr>
          <p:cNvPr id="6" name="dot3"/>
          <p:cNvSpPr/>
          <p:nvPr/>
        </p:nvSpPr>
        <p:spPr>
          <a:xfrm>
            <a:off x="1207008" y="5486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1463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Essayez-le avec vos enseignants</a:t>
            </a:r>
            <a:endParaRPr lang="en-US" sz="3600" dirty="0"/>
          </a:p>
        </p:txBody>
      </p:sp>
      <p:sp>
        <p:nvSpPr>
          <p:cNvPr id="8" name="Text 5">
            <a:hlinkClick r:id="rId1" tooltip=""/>
          </p:cNvPr>
          <p:cNvSpPr txBox="1"/>
          <p:nvPr/>
        </p:nvSpPr>
        <p:spPr>
          <a:xfrm>
            <a:off x="548640" y="2880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u="sng" dirty="0">
                <a:solidFill>
                  <a:srgbClr val="FBBF2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miwayclassroom.com/kit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429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2F7"/>
                </a:solidFill>
              </a:rPr>
              <a:t>Téléchargement, fiche, vidéos et diapositives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9E8"/>
                </a:solidFill>
              </a:rPr>
              <a:t>Formations et questions : miwayclassroom@gmail.com</a:t>
            </a:r>
            <a:endParaRPr lang="en-US" sz="1300" dirty="0"/>
          </a:p>
        </p:txBody>
      </p:sp>
      <p:sp>
        <p:nvSpPr>
          <p:cNvPr id="11" name="qrbg"/>
          <p:cNvSpPr/>
          <p:nvPr/>
        </p:nvSpPr>
        <p:spPr>
          <a:xfrm>
            <a:off x="6172200" y="1005840"/>
            <a:ext cx="24688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0" descr="QR code to download MI WAY Classro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0972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I WAY">
  <a:themeElements>
    <a:clrScheme name="MI WAY">
      <a:dk1>
        <a:srgbClr val="0B0B0B"/>
      </a:dk1>
      <a:lt1>
        <a:srgbClr val="FFFFFF"/>
      </a:lt1>
      <a:dk2>
        <a:srgbClr val="14306B"/>
      </a:dk2>
      <a:lt2>
        <a:srgbClr val="EEF3FC"/>
      </a:lt2>
      <a:accent1>
        <a:srgbClr val="1F4F9C"/>
      </a:accent1>
      <a:accent2>
        <a:srgbClr val="FBBF24"/>
      </a:accent2>
      <a:accent3>
        <a:srgbClr val="18A05E"/>
      </a:accent3>
      <a:accent4>
        <a:srgbClr val="EF6C35"/>
      </a:accent4>
      <a:accent5>
        <a:srgbClr val="2A78D6"/>
      </a:accent5>
      <a:accent6>
        <a:srgbClr val="6B6964"/>
      </a:accent6>
      <a:hlink>
        <a:srgbClr val="1F4F9C"/>
      </a:hlink>
      <a:folHlink>
        <a:srgbClr val="14306B"/>
      </a:folHlink>
    </a:clrScheme>
    <a:fontScheme name="MI WA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 WAY Classroom</dc:title>
  <dc:subject>PptxGenJS Presentation</dc:subject>
  <dc:creator>Rabii Hajoui</dc:creator>
  <cp:lastModifiedBy>Rabii Hajoui</cp:lastModifiedBy>
  <cp:revision>1</cp:revision>
  <dcterms:created xsi:type="dcterms:W3CDTF">2026-10-30T22:19:03Z</dcterms:created>
  <dcterms:modified xsi:type="dcterms:W3CDTF">2026-10-30T22:19:03Z</dcterms:modified>
</cp:coreProperties>
</file>